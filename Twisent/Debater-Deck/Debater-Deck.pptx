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1" r:id="rId4"/>
    <p:sldId id="262" r:id="rId5"/>
    <p:sldId id="259" r:id="rId6"/>
    <p:sldId id="260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-107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C100F-B513-264A-AD14-ACC9507D1DAF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A537A-F435-7C42-B9FF-721E4CE7D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8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94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</a:t>
            </a:r>
            <a:r>
              <a:rPr lang="en-US" dirty="0" err="1" smtClean="0"/>
              <a:t>www.conecomm.com</a:t>
            </a:r>
            <a:r>
              <a:rPr lang="en-US" dirty="0" smtClean="0"/>
              <a:t>/stuff/</a:t>
            </a:r>
            <a:r>
              <a:rPr lang="en-US" dirty="0" err="1" smtClean="0"/>
              <a:t>contentmgr</a:t>
            </a:r>
            <a:r>
              <a:rPr lang="en-US" dirty="0" smtClean="0"/>
              <a:t>/files/0/286c351989671ae74994fec139863bb2/files/2011_cone_online_influence_trend_tracker_release_and_fact_sheet.pdf</a:t>
            </a:r>
          </a:p>
          <a:p>
            <a:endParaRPr lang="en-US" dirty="0" smtClean="0"/>
          </a:p>
          <a:p>
            <a:r>
              <a:rPr lang="en-US" dirty="0" smtClean="0"/>
              <a:t>“4 out of 5 consumers reverse purchase based on online</a:t>
            </a:r>
            <a:r>
              <a:rPr lang="en-US" baseline="0" dirty="0" smtClean="0"/>
              <a:t> reviews”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99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are lots of tweets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37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Far</a:t>
            </a:r>
            <a:r>
              <a:rPr lang="en-US" baseline="0" dirty="0" smtClean="0"/>
              <a:t> too many to deal with in any manner which isn’t digital</a:t>
            </a:r>
          </a:p>
          <a:p>
            <a:endParaRPr lang="en-US" baseline="0" dirty="0" smtClean="0"/>
          </a:p>
          <a:p>
            <a:r>
              <a:rPr lang="en-US" baseline="0" dirty="0" smtClean="0"/>
              <a:t>Source:</a:t>
            </a:r>
          </a:p>
          <a:p>
            <a:r>
              <a:rPr lang="en-US" dirty="0" smtClean="0"/>
              <a:t>http://</a:t>
            </a:r>
            <a:r>
              <a:rPr lang="en-US" dirty="0" err="1" smtClean="0"/>
              <a:t>www.internetlivestats.com</a:t>
            </a:r>
            <a:r>
              <a:rPr lang="en-US" dirty="0" smtClean="0"/>
              <a:t>/twitter-statistics/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4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Most approaches to dealing with this data are aggregate, an algorithm</a:t>
            </a:r>
            <a:r>
              <a:rPr lang="en-US" baseline="0" dirty="0" smtClean="0"/>
              <a:t> analyzes the tweets and sums up the statistics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Source:</a:t>
            </a:r>
          </a:p>
          <a:p>
            <a:endParaRPr lang="en-US" dirty="0" smtClean="0"/>
          </a:p>
          <a:p>
            <a:r>
              <a:rPr lang="en-US" dirty="0" smtClean="0"/>
              <a:t>http://</a:t>
            </a:r>
            <a:r>
              <a:rPr lang="en-US" dirty="0" err="1" smtClean="0"/>
              <a:t>www.mobenzi.com</a:t>
            </a:r>
            <a:r>
              <a:rPr lang="en-US" dirty="0" smtClean="0"/>
              <a:t>/intelligence/</a:t>
            </a:r>
            <a:r>
              <a:rPr lang="en-US" dirty="0" err="1" smtClean="0"/>
              <a:t>index.php</a:t>
            </a:r>
            <a:r>
              <a:rPr lang="en-US" dirty="0" smtClean="0"/>
              <a:t>/tag/</a:t>
            </a:r>
            <a:r>
              <a:rPr lang="en-US" dirty="0" err="1" smtClean="0"/>
              <a:t>tasktypes</a:t>
            </a:r>
            <a:r>
              <a:rPr lang="en-US" dirty="0" smtClean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0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But this is really dumb,</a:t>
            </a:r>
          </a:p>
          <a:p>
            <a:endParaRPr lang="en-US" dirty="0" smtClean="0"/>
          </a:p>
          <a:p>
            <a:r>
              <a:rPr lang="en-US" dirty="0" smtClean="0"/>
              <a:t>Even</a:t>
            </a:r>
            <a:r>
              <a:rPr lang="en-US" baseline="0" dirty="0" smtClean="0"/>
              <a:t> if this data were accurate, it gives you very few hints of how to change your approach. At best its just another metric</a:t>
            </a:r>
            <a:r>
              <a:rPr lang="is-IS" baseline="0" dirty="0" smtClean="0"/>
              <a:t>…</a:t>
            </a:r>
          </a:p>
          <a:p>
            <a:endParaRPr lang="is-IS" baseline="0" dirty="0" smtClean="0"/>
          </a:p>
          <a:p>
            <a:r>
              <a:rPr lang="is-IS" baseline="0" dirty="0" smtClean="0"/>
              <a:t>... </a:t>
            </a:r>
            <a:r>
              <a:rPr lang="en-US" baseline="0" dirty="0" smtClean="0"/>
              <a:t>A</a:t>
            </a:r>
            <a:r>
              <a:rPr lang="is-IS" baseline="0" dirty="0" smtClean="0"/>
              <a:t>nd at worst its directly misleading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08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Sometimes a negative</a:t>
            </a:r>
            <a:r>
              <a:rPr lang="en-US" baseline="0" dirty="0" smtClean="0"/>
              <a:t> sentiment is a good thing.</a:t>
            </a:r>
          </a:p>
          <a:p>
            <a:endParaRPr lang="en-US" baseline="0" dirty="0" smtClean="0"/>
          </a:p>
          <a:p>
            <a:r>
              <a:rPr lang="en-US" baseline="0" dirty="0" smtClean="0"/>
              <a:t>More often than not it contains key information on something you can improve.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76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Three things we’d like to know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92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One of those we’ve discussed already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92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</a:t>
            </a:r>
            <a:r>
              <a:rPr lang="en-US" baseline="0" dirty="0" smtClean="0"/>
              <a:t> this last one is the jackpot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92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 so, we’d like to introduce to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34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the Debater</a:t>
            </a:r>
            <a:r>
              <a:rPr lang="en-US" baseline="0" dirty="0" smtClean="0"/>
              <a:t> search 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6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can give you an annotated list of live tweets,</a:t>
            </a:r>
          </a:p>
          <a:p>
            <a:endParaRPr lang="en-US" dirty="0" smtClean="0"/>
          </a:p>
          <a:p>
            <a:r>
              <a:rPr lang="en-US" dirty="0" smtClean="0"/>
              <a:t>Which you can immediately reply to inline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01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</a:t>
            </a:r>
            <a:r>
              <a:rPr lang="en-US" baseline="0" dirty="0" smtClean="0"/>
              <a:t> the moment, large companies like McDonalds can only reply to tweets made directly to them.</a:t>
            </a:r>
          </a:p>
          <a:p>
            <a:endParaRPr lang="en-US" baseline="0" dirty="0" smtClean="0"/>
          </a:p>
          <a:p>
            <a:r>
              <a:rPr lang="en-US" baseline="0" dirty="0" smtClean="0"/>
              <a:t>But we can grab tweets which just mention your company’s name or product, without relying on hash-tags or mentions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655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can even output the tweets to a spreadsheet</a:t>
            </a:r>
            <a:r>
              <a:rPr lang="en-US" baseline="0" dirty="0" smtClean="0"/>
              <a:t>, lifting a list of individual users for you to reach out 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39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 people already do this?</a:t>
            </a:r>
          </a:p>
          <a:p>
            <a:endParaRPr lang="en-US" dirty="0" smtClean="0"/>
          </a:p>
          <a:p>
            <a:r>
              <a:rPr lang="en-US" dirty="0" smtClean="0"/>
              <a:t>Yes, but they do it in a really stupid way: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Source:</a:t>
            </a:r>
          </a:p>
          <a:p>
            <a:endParaRPr lang="en-US" dirty="0" smtClean="0"/>
          </a:p>
          <a:p>
            <a:r>
              <a:rPr lang="en-US" dirty="0" smtClean="0"/>
              <a:t>http://</a:t>
            </a:r>
            <a:r>
              <a:rPr lang="en-US" dirty="0" err="1" smtClean="0"/>
              <a:t>time.com</a:t>
            </a:r>
            <a:r>
              <a:rPr lang="en-US" dirty="0" smtClean="0"/>
              <a:t>/money/4022979/</a:t>
            </a:r>
            <a:r>
              <a:rPr lang="en-US" dirty="0" err="1" smtClean="0"/>
              <a:t>mcdonalds</a:t>
            </a:r>
            <a:r>
              <a:rPr lang="en-US" dirty="0" smtClean="0"/>
              <a:t>-twitter-all-day-breakfast/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03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 what takes a team of over 40 people can by done by just one person with a laptop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39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A537A-F435-7C42-B9FF-721E4CE7D3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9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93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1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3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6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0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1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0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7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3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7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57196-9CE3-B641-A1DC-3C4CECD24E2D}" type="datetimeFigureOut">
              <a:rPr lang="en-US" smtClean="0"/>
              <a:t>26/04/16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B5FF0-021C-094A-B179-A6015C861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7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6-04-25 at 14.37.57.pn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1562100" y="2438400"/>
            <a:ext cx="6007100" cy="158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143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6-04-25 at 14.52.5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00" y="1684577"/>
            <a:ext cx="80137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26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1607" y="1471811"/>
            <a:ext cx="298771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dirty="0" smtClean="0">
                <a:latin typeface="Book Antiqua"/>
                <a:cs typeface="Book Antiqua"/>
              </a:rPr>
              <a:t>6,000 </a:t>
            </a:r>
            <a:endParaRPr lang="en-US" sz="9600" dirty="0">
              <a:latin typeface="Book Antiqua"/>
              <a:cs typeface="Book Antiqu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56282" y="1471811"/>
            <a:ext cx="395793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dirty="0" smtClean="0">
                <a:latin typeface="Book Antiqua"/>
                <a:cs typeface="Book Antiqua"/>
              </a:rPr>
              <a:t>Tweets</a:t>
            </a:r>
          </a:p>
        </p:txBody>
      </p:sp>
    </p:spTree>
    <p:extLst>
      <p:ext uri="{BB962C8B-B14F-4D97-AF65-F5344CB8AC3E}">
        <p14:creationId xmlns:p14="http://schemas.microsoft.com/office/powerpoint/2010/main" val="1377282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1607" y="1468027"/>
            <a:ext cx="298771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dirty="0" smtClean="0">
                <a:latin typeface="Book Antiqua"/>
                <a:cs typeface="Book Antiqua"/>
              </a:rPr>
              <a:t>6,000 </a:t>
            </a:r>
            <a:endParaRPr lang="en-US" sz="9600" dirty="0">
              <a:latin typeface="Book Antiqua"/>
              <a:cs typeface="Book Antiqu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56282" y="1468027"/>
            <a:ext cx="395793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dirty="0" smtClean="0">
                <a:latin typeface="Book Antiqua"/>
                <a:cs typeface="Book Antiqua"/>
              </a:rPr>
              <a:t>Tweets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1607" y="4679784"/>
            <a:ext cx="75861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latin typeface="Book Antiqua"/>
                <a:cs typeface="Book Antiqua"/>
              </a:rPr>
              <a:t>Every Second</a:t>
            </a:r>
          </a:p>
        </p:txBody>
      </p:sp>
    </p:spTree>
    <p:extLst>
      <p:ext uri="{BB962C8B-B14F-4D97-AF65-F5344CB8AC3E}">
        <p14:creationId xmlns:p14="http://schemas.microsoft.com/office/powerpoint/2010/main" val="416166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54000"/>
            <a:ext cx="6350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54000"/>
            <a:ext cx="6350000" cy="63500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799732" y="254000"/>
            <a:ext cx="8044368" cy="611897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611560" y="254000"/>
            <a:ext cx="8232540" cy="611897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0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4-25 at 14.49.1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86" y="1588627"/>
            <a:ext cx="74549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589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077" y="215018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 smtClean="0">
                <a:latin typeface="Book Antiqua"/>
                <a:cs typeface="Book Antiqua"/>
              </a:rPr>
              <a:t>What do people think about 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077" y="2346040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 smtClean="0">
                <a:latin typeface="Book Antiqua"/>
                <a:cs typeface="Book Antiqua"/>
              </a:rPr>
              <a:t>What do they want from 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2077" y="4557186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 smtClean="0">
                <a:latin typeface="Book Antiqua"/>
                <a:cs typeface="Book Antiqua"/>
              </a:rPr>
              <a:t>How can I change their minds?</a:t>
            </a:r>
          </a:p>
        </p:txBody>
      </p:sp>
    </p:spTree>
    <p:extLst>
      <p:ext uri="{BB962C8B-B14F-4D97-AF65-F5344CB8AC3E}">
        <p14:creationId xmlns:p14="http://schemas.microsoft.com/office/powerpoint/2010/main" val="427806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077" y="215018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strike="sngStrike" dirty="0" smtClean="0">
                <a:latin typeface="Book Antiqua"/>
                <a:cs typeface="Book Antiqua"/>
              </a:rPr>
              <a:t>What do people think about 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077" y="2346040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Book Antiqua"/>
                <a:cs typeface="Book Antiqua"/>
              </a:rPr>
              <a:t>What do they want from 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2077" y="4557186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 smtClean="0">
                <a:latin typeface="Book Antiqua"/>
                <a:cs typeface="Book Antiqua"/>
              </a:rPr>
              <a:t>How can I change their minds?</a:t>
            </a:r>
          </a:p>
        </p:txBody>
      </p:sp>
    </p:spTree>
    <p:extLst>
      <p:ext uri="{BB962C8B-B14F-4D97-AF65-F5344CB8AC3E}">
        <p14:creationId xmlns:p14="http://schemas.microsoft.com/office/powerpoint/2010/main" val="133916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077" y="215018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strike="sngStrike" dirty="0" smtClean="0">
                <a:latin typeface="Book Antiqua"/>
                <a:cs typeface="Book Antiqua"/>
              </a:rPr>
              <a:t>What do people think about 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077" y="2346040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 smtClean="0">
                <a:latin typeface="Book Antiqua"/>
                <a:cs typeface="Book Antiqua"/>
              </a:rPr>
              <a:t>What do they want from 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2077" y="4557186"/>
            <a:ext cx="80265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 smtClean="0">
                <a:solidFill>
                  <a:srgbClr val="008000"/>
                </a:solidFill>
                <a:latin typeface="Book Antiqua"/>
                <a:cs typeface="Book Antiqua"/>
              </a:rPr>
              <a:t>How can I change their minds?</a:t>
            </a:r>
          </a:p>
        </p:txBody>
      </p:sp>
    </p:spTree>
    <p:extLst>
      <p:ext uri="{BB962C8B-B14F-4D97-AF65-F5344CB8AC3E}">
        <p14:creationId xmlns:p14="http://schemas.microsoft.com/office/powerpoint/2010/main" val="424834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44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6-04-25 at 15.20.5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30" y="399781"/>
            <a:ext cx="7432808" cy="605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30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4-25 at 15.23.0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90" y="1283827"/>
            <a:ext cx="73787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69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4-25 at 15.25.5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58" y="1113077"/>
            <a:ext cx="78867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52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4-25 at 15.28.1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80" y="1660091"/>
            <a:ext cx="84963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71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53675" y="751585"/>
            <a:ext cx="72730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latin typeface="Book Antiqua"/>
                <a:cs typeface="Book Antiqua"/>
              </a:rPr>
              <a:t>88,000 unique accounts</a:t>
            </a:r>
            <a:endParaRPr lang="en-US" sz="7200" dirty="0">
              <a:latin typeface="Book Antiqua"/>
              <a:cs typeface="Book Antiqu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3675" y="3890581"/>
            <a:ext cx="72730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latin typeface="Book Antiqua"/>
                <a:cs typeface="Book Antiqua"/>
              </a:rPr>
              <a:t>A team of over 40 people</a:t>
            </a:r>
            <a:endParaRPr lang="en-US" sz="7200" dirty="0"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28185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7340" y="2328134"/>
            <a:ext cx="74798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latin typeface="Book Antiqua"/>
                <a:cs typeface="Book Antiqua"/>
              </a:rPr>
              <a:t>Just one person with a laptop</a:t>
            </a:r>
            <a:endParaRPr lang="en-US" sz="6000" dirty="0"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451995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6-04-25 at 14.37.57.pn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1562100" y="2438400"/>
            <a:ext cx="6007100" cy="158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37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436</Words>
  <Application>Microsoft Macintosh PowerPoint</Application>
  <PresentationFormat>On-screen Show (4:3)</PresentationFormat>
  <Paragraphs>77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of London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8</cp:revision>
  <dcterms:created xsi:type="dcterms:W3CDTF">2016-04-25T13:35:12Z</dcterms:created>
  <dcterms:modified xsi:type="dcterms:W3CDTF">2016-04-26T12:22:12Z</dcterms:modified>
</cp:coreProperties>
</file>